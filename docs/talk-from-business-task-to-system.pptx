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часы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F24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59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313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B2B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мид с ИИ</c:v>
                  </c:pt>
                  <c:pt idx="1">
                    <c:v>мид без ИИ</c:v>
                  </c:pt>
                  <c:pt idx="2">
                    <c:v>джун с ИИ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20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F24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42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6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6E7681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6E7681"/>
                    </a:solidFill>
                    <a:latin typeface="Arial"/>
                  </a:rPr>
                  <a:t>часов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0:00–0:45. «Сегодня говорят, что ИИ уже пишет программы вместо программистов. Я проверял. Иногда — правда. Иногда — почти». Не разжевывать «ну почти» — интрига держится до формулы на слайде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0:45–1:45. Канбан — с удовольствием: «я сам идеальный заказчик». Воркшиты — поворот: настоящий пользователь. Панч строки-ленты: «под одной крышей — и то неделя». Если появятся скрины — вставить в карточки, слайд самодостаточен и без 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1:45–3:30. Пройти по цепочкам сверху вниз. «Кроме кофе» — дать залу улыбнуться: кофе вернётся в финале. Ключевая мысль: аппетит — признак здоровой системы, ею пользуются. «3 года / ~1800 часов» — подтвердить трактовку до выступления.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3:30–5:00. Кульминация акта I — прочитать формулу медленно, с паузой после «несложно». ТЗ почти никогда не описывает жизнь системы; чем быстрее польза — тем быстрее новое пожелание. Мост: «Покажу этот цикл на живом примере — производстве, где мы работаем прямо сейчас».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5:00–6:30. Вход через бизнес-запрос, не через архитектуру. Рифма со слайдом 3: «та же история, что со стройкой и табелем, только на наших глазах». 80 °C/переналадка — подтвердить у команды MITE. Мост-реплика дословно: «→ Значит, дело не в цифрах. Дело в правилах».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6:30–8:30. Платформа входит здесь по необходимости — без слайда-витрины. Простыми словами: описываем бизнес — платформа сама строит базу, экраны, отчёты и права. Excel-сравнение — коротко и без извинений, он у них на каждом столе. Код-артефакт: закрытие задачи → уведомить + корректирующая, одна конструкция. Правило про 80 °C: «критично только в рабочем режиме и за пределами допуска» — словами, по коду не читать. Оговорка к 10× обязательна: «по нашим проектам». Мост дословно.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8:30–10:30. Левую цитату — с удовольствием, это речь любого, кто видел «систему мониторинга». TaskManager — наш продукт: офлайн, приёмка, корректирующие — всё подтверждено. Ключ: «мониторинг, заканчивающийся взглядом — наблюдение; задачей и приёмкой — управление». Мост дословно.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10:30–11:15. Короткий слайд-выдох: раньше здесь был рассказ «чего это стоило», теперь — цикл. Показать петлю: аппетит кормит систему, а не убивает проект. MyBalance/WMS — одной строкой, не каталог. Последняя фраза — вход в акт III, с паузой.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11:15–13:15. «Каждое из следующих ста проходит один путь» — показать цепочку. Замер читать медленно; после «джун — шестьдесят» пауза. Callback канбана: «вечер — это когда точно знаешь, что строишь». ЗАПАСНОЙ ВАРИАНТ (если цифры не подтверждены — слайд пересобрать без столбиков): «В наших экспериментах ИИ заметно сокращал время отдельных задач — но результат сильнее зависел от квалификации инженера и качества контекста, чем от самого факта использования модели».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13:15–14:15. Читать ровно, без рекламы — это инвентаризация, не достижение. Пауза после «Вы сейчас смотрите на результат»: дать залу посмотреть на экран. Проговорить: «чего в этом списке нет — кнопки Commit, решений и фактов, которых нет в коде. Это всегда за человеком». Мост: «И на всё это — одна рамка. Ваш завод её знает».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14:15–16:00. Историческая параллель — сильнейший ход для этого зала, не спешить. Границы проговорить спокойно: короткое правило, автоматическая проверка прав и допусков, подтверждение до исполнения; «проверить нельзя — не впускаем». Триада внизу — дословно: это условие промышленного применения, не ограничение.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16:00–17:30. Кольцо формулы (слайд 4) закрыть интонацией. Вопрос залу — с паузой, дать задуматься. Кофе — последняя реплика перед «спасибо», вернуть улыбку зала (зажжено на слайде 3). Поклон.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БЕЛПРОМФОРУМ · МИНСК · 14 ОКТЯБРЯ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17191D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0" y="2194560"/>
            <a:ext cx="2103120" cy="2103120"/>
          </a:xfrm>
          <a:prstGeom prst="ellipse">
            <a:avLst/>
          </a:prstGeom>
          <a:solidFill>
            <a:srgbClr val="17191D"/>
          </a:solidFill>
          <a:ln w="19050">
            <a:solidFill>
              <a:srgbClr val="3A41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28632" y="2679192"/>
            <a:ext cx="1133856" cy="1133856"/>
          </a:xfrm>
          <a:prstGeom prst="ellipse">
            <a:avLst/>
          </a:prstGeom>
          <a:solidFill>
            <a:srgbClr val="17191D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15400" y="3246120"/>
            <a:ext cx="2560320" cy="0"/>
          </a:xfrm>
          <a:prstGeom prst="line">
            <a:avLst/>
          </a:prstGeom>
          <a:noFill/>
          <a:ln w="15875">
            <a:solidFill>
              <a:srgbClr val="3A4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1965960"/>
            <a:ext cx="0" cy="2560320"/>
          </a:xfrm>
          <a:prstGeom prst="line">
            <a:avLst/>
          </a:prstGeom>
          <a:noFill/>
          <a:ln w="15875">
            <a:solidFill>
              <a:srgbClr val="3A4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320040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463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теперь пишет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программы.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 почти.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«От бизнес-задачи до работающей системы: современный подход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использование ИИ в разработке промышленного ПО»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Сергей Головнин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108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ЛюксСофт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 · ЛИЧНЫЙ ОПЫТ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Вот это я навайбкодил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программы: одна для себя — другая для настоящего пользователя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103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СЕБЯ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3957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Канбан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из трёх трекеров и блокнота — одна доска. Попросил ИИ: за вечер готово, работает до сих пор. ТЗ не понадобилось — я сам идеально знал, что мне нужно.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91072" y="187452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21031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НАСТОЯЩЕГО ПОЛЬЗОВАТЕЛЯ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1112" y="23957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Генератор воркшитов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11112" y="288036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Английские рабочие листы для занятий. Появился пользователь со своими сценариями и вкусами — и они уточняются до сих пор.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91672" cy="777240"/>
          </a:xfrm>
          <a:prstGeom prst="rect">
            <a:avLst/>
          </a:prstGeom>
          <a:solidFill>
            <a:srgbClr val="FDEEE4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6177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 живёт со мной под одной крышей — а на выяснение требований ушла неделя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5715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разработчик и заказчик — один человек, требования кажутся очевидными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 · ЭВОЛЮЦИЯ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Аппетит приходит во время разработки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следующая потребность видна только после того, как система заработала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ЭЛЕКТРОНИКИ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2560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39696"/>
            <a:ext cx="2560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 электроники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45536" y="2423160"/>
            <a:ext cx="292608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65576" y="213969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2139696"/>
            <a:ext cx="22402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документами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42432" y="2423160"/>
            <a:ext cx="292608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62472" y="2139696"/>
            <a:ext cx="2240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2139696"/>
            <a:ext cx="22402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ремонт в Дубае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30184" y="2423160"/>
            <a:ext cx="292608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50224" y="2139696"/>
            <a:ext cx="2990088" cy="566928"/>
          </a:xfrm>
          <a:prstGeom prst="rect">
            <a:avLst/>
          </a:prstGeom>
          <a:solidFill>
            <a:srgbClr val="FDEEE4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50224" y="2139696"/>
            <a:ext cx="2990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года · ~1800 часов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СТРОИТЕЛЬНАЯ КОМПАНИЯ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374136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74136"/>
            <a:ext cx="24688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табель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054096" y="3657600"/>
            <a:ext cx="320040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401568" y="3374136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374136"/>
            <a:ext cx="24688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жилья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07024" y="3657600"/>
            <a:ext cx="320040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54496" y="3374136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374136"/>
            <a:ext cx="246888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финансы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759952" y="3657600"/>
            <a:ext cx="320040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07424" y="3374136"/>
            <a:ext cx="253288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07424" y="3374136"/>
            <a:ext cx="2532888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на СТО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0" y="4343400"/>
            <a:ext cx="12188952" cy="86868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34340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уже умеет практически всё, кроме кофе. Хотя начинали с табеля.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48640" y="55321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«заказчик не знал, чего хочет» — он не мог знать, пока система не начала работать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 · ФОРМУЛА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17191D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26880" y="2240280"/>
            <a:ext cx="2377440" cy="2377440"/>
          </a:xfrm>
          <a:prstGeom prst="ellipse">
            <a:avLst/>
          </a:prstGeom>
          <a:solidFill>
            <a:srgbClr val="17191D"/>
          </a:solidFill>
          <a:ln w="19050">
            <a:solidFill>
              <a:srgbClr val="3A41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0" y="2788920"/>
            <a:ext cx="1280160" cy="1280160"/>
          </a:xfrm>
          <a:prstGeom prst="ellipse">
            <a:avLst/>
          </a:prstGeom>
          <a:solidFill>
            <a:srgbClr val="17191D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8280" y="3429000"/>
            <a:ext cx="2834640" cy="0"/>
          </a:xfrm>
          <a:prstGeom prst="line">
            <a:avLst/>
          </a:prstGeom>
          <a:noFill/>
          <a:ln w="15875">
            <a:solidFill>
              <a:srgbClr val="3A4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2011680"/>
            <a:ext cx="0" cy="2834640"/>
          </a:xfrm>
          <a:prstGeom prst="line">
            <a:avLst/>
          </a:prstGeom>
          <a:noFill/>
          <a:ln w="15875">
            <a:solidFill>
              <a:srgbClr val="3A4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338328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8308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Первую версию теперь написать несложно.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8640" y="2697480"/>
            <a:ext cx="8778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кто будет делать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сто?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Промышленную разработку определяет не скорость первого экрана,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стоимость и безопасность изменений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II · КЕЙС: MITE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«Хотим понимать, что происходит на производстве»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входе просто: оборудование · показатели · один экран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943600" cy="178308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«Почему вы решили, что это авария? У нас плановая переналадка — так и должно быть»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технолог, глядя на красную точку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17830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°C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949440" y="2697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одном режиме — норма,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другом — повод останавливать процесс.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Одинаковое число — разные ситуации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все показатели на один экран — иногда просто возможность одновременно не понимать сразу всё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343400"/>
            <a:ext cx="12188952" cy="7772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434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Просили мониторинг — оказались внутри бизнес-процессов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806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Дело не в цифрах. Дело в правилах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98280" y="6053328"/>
            <a:ext cx="25146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II · ПЛАТФОРМА: LSFUSION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— как конструкции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описываем сущности, связи и правила — техническую рутину берёт платформа · открытый код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623560" cy="1691640"/>
          </a:xfrm>
          <a:prstGeom prst="roundRect">
            <a:avLst>
              <a:gd name="adj" fmla="val 4324"/>
            </a:avLst>
          </a:prstGeom>
          <a:solidFill>
            <a:srgbClr val="1E222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029968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8A9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задача закрыта — ровно один раз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9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onProceed (Task t) + {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9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notifyParticipants(t);  // уведомить участников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9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createCorrective(t);  // по замечаниям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D9DE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живёт в системе как правило — не размазано по базе, интерфейсу и памяти незаменимого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011680" y="437083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быстрее локальное изменение бизнес-логики — против традиционных ERP · наши проекты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18288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ЗНАЧИТ «ПРАВИЛО»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измеряем — и в каком контексте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считается нормой — и для какого режима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чего зависит показатель</a:t>
            </a:r>
            <a:endParaRPr lang="en-US" sz="1350" dirty="0"/>
          </a:p>
          <a:p>
            <a:pPr marL="152400" indent="-1524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при отклонении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37960" y="4251960"/>
            <a:ext cx="5074920" cy="86868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25196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Желание заказчика — изменение описания,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 проект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описали, отклонение поймали — на экране красное. И что?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98280" y="6053328"/>
            <a:ext cx="25146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II · КЕЙС: TASKMANAGER В MITE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Красный индикатор — это ещё не «сделано»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623560" cy="214884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65960"/>
            <a:ext cx="5074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сделать показатель красным. Можно отправить уведомление. Можно даже десять.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Производству от этого не обязательно станет лучше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37960" y="1783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СИТУАЦИЯ СТАНОВИТСЯ ЗАДАЧЕЙ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телефоне — работает без связи, синхронизируется позже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заполнение бланком: фото, сканы, отметки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 результата: приняли — или вернули с причиной</a:t>
            </a:r>
            <a:endParaRPr lang="en-US" sz="1300" dirty="0"/>
          </a:p>
          <a:p>
            <a:pPr marL="152400" indent="-1524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замечание → корректирующая задача — той самой конструкцией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206240"/>
            <a:ext cx="12188952" cy="713232"/>
          </a:xfrm>
          <a:prstGeom prst="rect">
            <a:avLst/>
          </a:prstGeom>
          <a:solidFill>
            <a:srgbClr val="2B313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ситуация  →  задача  →  подтверждённый результат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48640" y="5120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 — не значит добиться результата: иначе управление состояло бы из одной кнопки «Назначить»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дальше по кругу: приходит следующее пожелание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6053328"/>
            <a:ext cx="25146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II · СИНТЕЗ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сто — штатный режим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956816" cy="777240"/>
          </a:xfrm>
          <a:prstGeom prst="roundRect">
            <a:avLst>
              <a:gd name="adj" fmla="val 8235"/>
            </a:avLst>
          </a:prstGeom>
          <a:solidFill>
            <a:srgbClr val="FDEEE4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пожелание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42032" y="249174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98064" y="2103120"/>
            <a:ext cx="1956816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21031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правило-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конструкция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91456" y="249174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47488" y="2103120"/>
            <a:ext cx="1956816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7488" y="21031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40880" y="249174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96912" y="2103120"/>
            <a:ext cx="1956816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96912" y="21031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выпуск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90304" y="249174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46336" y="2103120"/>
            <a:ext cx="1956816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46336" y="2103120"/>
            <a:ext cx="195681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24744" y="2880360"/>
            <a:ext cx="0" cy="868680"/>
          </a:xfrm>
          <a:prstGeom prst="line">
            <a:avLst/>
          </a:prstGeom>
          <a:noFill/>
          <a:ln w="15875">
            <a:solidFill>
              <a:srgbClr val="A9B2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27048" y="3749040"/>
            <a:ext cx="8997696" cy="0"/>
          </a:xfrm>
          <a:prstGeom prst="line">
            <a:avLst/>
          </a:prstGeom>
          <a:noFill/>
          <a:ln w="15875">
            <a:solidFill>
              <a:srgbClr val="A9B2BC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1527048" y="2880360"/>
            <a:ext cx="0" cy="868680"/>
          </a:xfrm>
          <a:prstGeom prst="line">
            <a:avLst/>
          </a:prstGeom>
          <a:noFill/>
          <a:ln w="15875">
            <a:solidFill>
              <a:srgbClr val="A9B2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0" y="3858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аппетит приходит во время разработки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434840"/>
            <a:ext cx="12188952" cy="86868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4348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принцип: явные правила, данные связаны с действиями.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B31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планировании и на складе — то же: MyBalance · lsFusion WMS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57150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вот в этот выстроенный цикл приходит ИИ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III · ИИ В РАЗРАБОТКЕ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ускоряет не проект — цикл изменений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195681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007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3504" y="20299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контекст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201168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98064" y="1554480"/>
            <a:ext cx="195681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7007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52928" y="20299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разобраться в системе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91456" y="201168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47488" y="1554480"/>
            <a:ext cx="195681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7007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изменить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102352" y="20299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 правила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40880" y="201168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96912" y="1554480"/>
            <a:ext cx="195681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17007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351776" y="20299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тесты и сценарии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290304" y="2011680"/>
            <a:ext cx="219456" cy="0"/>
          </a:xfrm>
          <a:prstGeom prst="line">
            <a:avLst/>
          </a:prstGeom>
          <a:noFill/>
          <a:ln w="25400">
            <a:solidFill>
              <a:srgbClr val="A9B2B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46336" y="1554480"/>
            <a:ext cx="1956816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9B2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46336" y="1700784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601200" y="2029968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сверить с постановкой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606040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в каждом шаге — серым, человек — везде</a:t>
            </a:r>
            <a:endParaRPr lang="en-US" sz="10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48640" y="3017520"/>
          <a:ext cx="57607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6629400" y="30632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умножает квалификацию — и не выдаёт её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6629400" y="374904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Джун с самым лучшим инструментом — медленнее мида без инструмента. Станок честно исполнял васину программу: всю, без вопросов.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629400" y="470916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«ИИ для всех» —</a:t>
            </a:r>
            <a:endParaRPr lang="en-US" sz="14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Петровы со станком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548640" y="60350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живой кейс одной задачи — не статистика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III · КАК ЭТО У НАС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мы используем ИИ — на самом деле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389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лозунги — текущая практика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745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разговора с заказчиком — и в трекере уже черновик: сущности, швы, границы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231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Разведка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423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жалоба «всё тормозит» — ИИ разбирает код и приносит карту причин. Без единой правки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109728" cy="10972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718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правка готова, когда поднялась служба, — а не когда «компилируется»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09728" cy="10972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204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520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чек-скрипт на живом стенде: зелёный — значит зелёный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09728" cy="109728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0690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00400" y="40690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шпаргалки, буклеты, доклады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91672" cy="822960"/>
          </a:xfrm>
          <a:prstGeom prst="rect">
            <a:avLst/>
          </a:prstGeom>
          <a:solidFill>
            <a:srgbClr val="FDEEE4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План, текст и слайды этой презентации — собраны с ИИ.</a:t>
            </a:r>
            <a:endParaRPr lang="en-US" sz="15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сейчас смотрите на результат.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на всё это — одна рамка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098280" y="6053328"/>
            <a:ext cx="2514600" cy="0"/>
          </a:xfrm>
          <a:prstGeom prst="line">
            <a:avLst/>
          </a:prstGeom>
          <a:noFill/>
          <a:ln w="25400">
            <a:solidFill>
              <a:srgbClr val="E8590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III · МЕТАФОРА ЦЕХА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17191D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— станок с ЧПУ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исполняет вашу программу с идеальной точностью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23283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ЧЕРТЁЖ МАСТЕРА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Деталь — в допуске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91072" y="21488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232830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ВАСИН ЭСКИЗ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11112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Идеально точный брак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Станок не спрашивает, верна ли программа. Он её исполняет.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 завод это проходил: ЧПУ не уволило фрезеровщиков — появились технологи и наладчики. Вайбкодинг — ЧПУ без ОТК: брак уходит в серию.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232830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2578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предлагает  →  система проверяет  →  человек подтверждает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11137392" y="411480"/>
            <a:ext cx="310896" cy="310896"/>
          </a:xfrm>
          <a:prstGeom prst="ellipse">
            <a:avLst/>
          </a:prstGeom>
          <a:solidFill>
            <a:srgbClr val="17191D"/>
          </a:solidFill>
          <a:ln w="15875">
            <a:solidFill>
              <a:srgbClr val="E859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36808" y="566928"/>
            <a:ext cx="512064" cy="0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92840" y="310896"/>
            <a:ext cx="0" cy="512064"/>
          </a:xfrm>
          <a:prstGeom prst="line">
            <a:avLst/>
          </a:prstGeom>
          <a:noFill/>
          <a:ln w="15875">
            <a:solidFill>
              <a:srgbClr val="E859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67237" y="541325"/>
            <a:ext cx="51206" cy="51206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/>
          <p:nvPr/>
        </p:nvSpPr>
        <p:spPr>
          <a:xfrm>
            <a:off x="11137392" y="647395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26880" y="2103120"/>
            <a:ext cx="2377440" cy="2377440"/>
          </a:xfrm>
          <a:prstGeom prst="ellipse">
            <a:avLst/>
          </a:prstGeom>
          <a:solidFill>
            <a:srgbClr val="17191D"/>
          </a:solidFill>
          <a:ln w="19050">
            <a:solidFill>
              <a:srgbClr val="3A41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0" y="2651760"/>
            <a:ext cx="1280160" cy="1280160"/>
          </a:xfrm>
          <a:prstGeom prst="ellipse">
            <a:avLst/>
          </a:prstGeom>
          <a:solidFill>
            <a:srgbClr val="17191D"/>
          </a:solidFill>
          <a:ln w="19050">
            <a:solidFill>
              <a:srgbClr val="E8590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98280" y="3291840"/>
            <a:ext cx="2834640" cy="0"/>
          </a:xfrm>
          <a:prstGeom prst="line">
            <a:avLst/>
          </a:prstGeom>
          <a:noFill/>
          <a:ln w="15875">
            <a:solidFill>
              <a:srgbClr val="3A4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1874520"/>
            <a:ext cx="0" cy="2834640"/>
          </a:xfrm>
          <a:prstGeom prst="line">
            <a:avLst/>
          </a:prstGeom>
          <a:noFill/>
          <a:ln w="15875">
            <a:solidFill>
              <a:srgbClr val="3A41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69880" y="3246120"/>
            <a:ext cx="91440" cy="914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начали с того, что ИИ теперь пишет программы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4173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версия — начало разговора.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создают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следующие сто.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Выигрывает не тот, у кого красивее первый экран, — а тот, у кого сотое изменение дёшево и безопасно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8920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Вернётесь на предприятие — спросите: кто делает следующие сто у нас?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Кофе система по-прежнему не варит — но теперь есть ИИ: возможно, скоро научится хотя бы заказывать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MyBalance · lsFusion WMS · MITE · TaskManager · lsFusion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 бизнес-задачи до работающей системы: современный подход и использование ИИ в разработке промышленного ПО</dc:title>
  <dc:subject>PptxGenJS Presentation</dc:subject>
  <dc:creator>Сергей Головнин, ЛюксСофт</dc:creator>
  <cp:lastModifiedBy>Сергей Головнин, ЛюксСофт</cp:lastModifiedBy>
  <cp:revision>1</cp:revision>
  <dcterms:created xsi:type="dcterms:W3CDTF">2026-10-12T08:17:40Z</dcterms:created>
  <dcterms:modified xsi:type="dcterms:W3CDTF">2026-10-12T08:17:40Z</dcterms:modified>
</cp:coreProperties>
</file>